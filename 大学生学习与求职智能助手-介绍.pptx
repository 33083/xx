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96" y="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DC3C21-FA98-431E-9140-C2786AC5AF30}" type="datetimeFigureOut">
              <a:rPr lang="zh-CN" altLang="en-US" smtClean="0"/>
              <a:t>2026/8/27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EDC7AE-5C7B-48A7-9915-232DC18D706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501328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0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EDC7AE-5C7B-48A7-9915-232DC18D7063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243281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EDC7AE-5C7B-48A7-9915-232DC18D7063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697564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8778240" y="-1280160"/>
            <a:ext cx="4754880" cy="475488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-1463040" y="5029200"/>
            <a:ext cx="4754880" cy="4754880"/>
          </a:xfrm>
          <a:prstGeom prst="ellipse">
            <a:avLst/>
          </a:prstGeom>
          <a:solidFill>
            <a:srgbClr val="3733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9966960" y="5486400"/>
            <a:ext cx="1371600" cy="1371600"/>
          </a:xfrm>
          <a:prstGeom prst="roundRect">
            <a:avLst>
              <a:gd name="adj" fmla="val 20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22960" y="82296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51560" y="859536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AI 学习助手 · 课程设计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103120"/>
            <a:ext cx="100584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4600" b="1">
                <a:solidFill>
                  <a:srgbClr val="FFFFFF"/>
                </a:solidFill>
                <a:latin typeface="微软雅黑"/>
                <a:ea typeface="微软雅黑"/>
              </a:rPr>
              <a:t>大学生学习与求职智能助手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42900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200" b="0">
                <a:solidFill>
                  <a:srgbClr val="DDE2FF"/>
                </a:solidFill>
                <a:latin typeface="微软雅黑"/>
                <a:ea typeface="微软雅黑"/>
              </a:rPr>
              <a:t>基于大模型的智能问答  ×  RAG 文档检索  ×  工具调用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00" b="0">
                <a:solidFill>
                  <a:srgbClr val="BBC3FF"/>
                </a:solidFill>
                <a:latin typeface="微软雅黑"/>
                <a:ea typeface="微软雅黑"/>
              </a:rPr>
              <a:t>全栈 Web 应用   ·   FastAPI + Vue3 + DeepSeek + Chroma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99A3F0"/>
                </a:solidFill>
                <a:latin typeface="微软雅黑"/>
                <a:ea typeface="微软雅黑"/>
              </a:rPr>
              <a:t>汇报人：________      日期：________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457200"/>
            <a:ext cx="118872" cy="65836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49808" y="402336"/>
            <a:ext cx="93268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00" b="1">
                <a:solidFill>
                  <a:srgbClr val="1F2937"/>
                </a:solidFill>
                <a:latin typeface="微软雅黑"/>
                <a:ea typeface="微软雅黑"/>
              </a:rPr>
              <a:t>项目背景与痛点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457200"/>
            <a:ext cx="1234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6B7280"/>
                </a:solidFill>
                <a:latin typeface="微软雅黑"/>
                <a:ea typeface="微软雅黑"/>
              </a:rPr>
              <a:t>02 / 13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3566160" cy="2834640"/>
          </a:xfrm>
          <a:prstGeom prst="roundRect">
            <a:avLst>
              <a:gd name="adj" fmla="val 6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1901952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4F46E5"/>
                </a:solidFill>
                <a:latin typeface="微软雅黑"/>
                <a:ea typeface="微软雅黑"/>
              </a:rPr>
              <a:t>信息分散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395728"/>
            <a:ext cx="310896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6B7280"/>
                </a:solidFill>
                <a:latin typeface="微软雅黑"/>
                <a:ea typeface="微软雅黑"/>
              </a:rPr>
              <a:t>学习资料、简历模板、面试经验散落在各处，查找效率低，难以沉淀。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737360"/>
            <a:ext cx="3566160" cy="2834640"/>
          </a:xfrm>
          <a:prstGeom prst="roundRect">
            <a:avLst>
              <a:gd name="adj" fmla="val 6000"/>
            </a:avLst>
          </a:prstGeom>
          <a:solidFill>
            <a:srgbClr val="F3E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0" y="1901952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7C3AED"/>
                </a:solidFill>
                <a:latin typeface="微软雅黑"/>
                <a:ea typeface="微软雅黑"/>
              </a:rPr>
              <a:t>大模型不认文档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395728"/>
            <a:ext cx="310896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6B7280"/>
                </a:solidFill>
                <a:latin typeface="微软雅黑"/>
                <a:ea typeface="微软雅黑"/>
              </a:rPr>
              <a:t>通用大模型无法检索个人文档，回答泛泛而谈、没有依据，不接地气。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737360"/>
            <a:ext cx="3566160" cy="2834640"/>
          </a:xfrm>
          <a:prstGeom prst="roundRect">
            <a:avLst>
              <a:gd name="adj" fmla="val 6000"/>
            </a:avLst>
          </a:prstGeom>
          <a:solidFill>
            <a:srgbClr val="EAFB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66760" y="1901952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10B981"/>
                </a:solidFill>
                <a:latin typeface="微软雅黑"/>
                <a:ea typeface="微软雅黑"/>
              </a:rPr>
              <a:t>只会聊天不能干活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395728"/>
            <a:ext cx="310896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6B7280"/>
                </a:solidFill>
                <a:latin typeface="微软雅黑"/>
                <a:ea typeface="微软雅黑"/>
              </a:rPr>
              <a:t>算不了数、查不了实时信息、执行不了代码，"动手能力"缺失。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937760"/>
            <a:ext cx="11109960" cy="1051560"/>
          </a:xfrm>
          <a:prstGeom prst="roundRect">
            <a:avLst>
              <a:gd name="adj" fmla="val 12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68680" y="5138928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900" b="1">
                <a:solidFill>
                  <a:srgbClr val="4F46E5"/>
                </a:solidFill>
                <a:latin typeface="微软雅黑"/>
                <a:ea typeface="微软雅黑"/>
              </a:rPr>
              <a:t>结论：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900" b="1">
                <a:solidFill>
                  <a:srgbClr val="1F2937"/>
                </a:solidFill>
                <a:latin typeface="微软雅黑"/>
                <a:ea typeface="微软雅黑"/>
              </a:rPr>
              <a:t>需要"懂我的资料、能动手干活"的专属 AI 助手，覆盖学习与求职全场景。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4652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大学生学习与求职智能助手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457200"/>
            <a:ext cx="118872" cy="65836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49808" y="402336"/>
            <a:ext cx="93268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00" b="1">
                <a:solidFill>
                  <a:srgbClr val="1F2937"/>
                </a:solidFill>
                <a:latin typeface="微软雅黑"/>
                <a:ea typeface="微软雅黑"/>
              </a:rPr>
              <a:t>项目简介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457200"/>
            <a:ext cx="1234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6B7280"/>
                </a:solidFill>
                <a:latin typeface="微软雅黑"/>
                <a:ea typeface="微软雅黑"/>
              </a:rPr>
              <a:t>03 / 13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100" b="1">
                <a:solidFill>
                  <a:srgbClr val="4F46E5"/>
                </a:solidFill>
                <a:latin typeface="微软雅黑"/>
                <a:ea typeface="微软雅黑"/>
              </a:rPr>
              <a:t>一句话定位：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100" b="0">
                <a:solidFill>
                  <a:srgbClr val="1F2937"/>
                </a:solidFill>
                <a:latin typeface="微软雅黑"/>
                <a:ea typeface="微软雅黑"/>
              </a:rPr>
              <a:t>一款给大学生打造的专属 AI 助手，融合智能对话、文档知识问答、工具调用与求职辅助。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880360"/>
            <a:ext cx="2697480" cy="2743200"/>
          </a:xfrm>
          <a:prstGeom prst="roundRect">
            <a:avLst>
              <a:gd name="adj" fmla="val 8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3200400"/>
            <a:ext cx="2286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微软雅黑"/>
                <a:ea typeface="微软雅黑"/>
              </a:rPr>
              <a:t>智能对话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93192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DDE2FF"/>
                </a:solidFill>
                <a:latin typeface="微软雅黑"/>
                <a:ea typeface="微软雅黑"/>
              </a:rPr>
              <a:t>流式输出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43484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DDE2FF"/>
                </a:solidFill>
                <a:latin typeface="微软雅黑"/>
                <a:ea typeface="微软雅黑"/>
              </a:rPr>
              <a:t>联网搜索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93776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DDE2FF"/>
                </a:solidFill>
                <a:latin typeface="微软雅黑"/>
                <a:ea typeface="微软雅黑"/>
              </a:rPr>
              <a:t>Markdown 渲染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64992" y="2880360"/>
            <a:ext cx="2697480" cy="274320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593592" y="3200400"/>
            <a:ext cx="2286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微软雅黑"/>
                <a:ea typeface="微软雅黑"/>
              </a:rPr>
              <a:t>文档问答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93592" y="393192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DDE2FF"/>
                </a:solidFill>
                <a:latin typeface="微软雅黑"/>
                <a:ea typeface="微软雅黑"/>
              </a:rPr>
              <a:t>上传文档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93592" y="443484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DDE2FF"/>
                </a:solidFill>
                <a:latin typeface="微软雅黑"/>
                <a:ea typeface="微软雅黑"/>
              </a:rPr>
              <a:t>RAG 检索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3592" y="493776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DDE2FF"/>
                </a:solidFill>
                <a:latin typeface="微软雅黑"/>
                <a:ea typeface="微软雅黑"/>
              </a:rPr>
              <a:t>引用作答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1344" y="2880360"/>
            <a:ext cx="2697480" cy="2743200"/>
          </a:xfrm>
          <a:prstGeom prst="roundRect">
            <a:avLst>
              <a:gd name="adj" fmla="val 8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9944" y="3200400"/>
            <a:ext cx="2286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微软雅黑"/>
                <a:ea typeface="微软雅黑"/>
              </a:rPr>
              <a:t>工具调用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9944" y="393192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DDE2FF"/>
                </a:solidFill>
                <a:latin typeface="微软雅黑"/>
                <a:ea typeface="微软雅黑"/>
              </a:rPr>
              <a:t>计算器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9944" y="443484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DDE2FF"/>
                </a:solidFill>
                <a:latin typeface="微软雅黑"/>
                <a:ea typeface="微软雅黑"/>
              </a:rPr>
              <a:t>查资料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9944" y="493776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 dirty="0" err="1">
                <a:solidFill>
                  <a:srgbClr val="DDE2FF"/>
                </a:solidFill>
                <a:latin typeface="微软雅黑"/>
                <a:ea typeface="微软雅黑"/>
              </a:rPr>
              <a:t>执行代码</a:t>
            </a:r>
            <a:endParaRPr sz="1400" b="0" dirty="0">
              <a:solidFill>
                <a:srgbClr val="DDE2FF"/>
              </a:solidFill>
              <a:latin typeface="微软雅黑"/>
              <a:ea typeface="微软雅黑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8997696" y="2880360"/>
            <a:ext cx="2697480" cy="274320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226296" y="3200400"/>
            <a:ext cx="2286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微软雅黑"/>
                <a:ea typeface="微软雅黑"/>
              </a:rPr>
              <a:t>求职辅助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26296" y="393192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DDE2FF"/>
                </a:solidFill>
                <a:latin typeface="微软雅黑"/>
                <a:ea typeface="微软雅黑"/>
              </a:rPr>
              <a:t>简历检查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26296" y="443484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DDE2FF"/>
                </a:solidFill>
                <a:latin typeface="微软雅黑"/>
                <a:ea typeface="微软雅黑"/>
              </a:rPr>
              <a:t>面试经验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26296" y="493776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DDE2FF"/>
                </a:solidFill>
                <a:latin typeface="微软雅黑"/>
                <a:ea typeface="微软雅黑"/>
              </a:rPr>
              <a:t>学习资料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4652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大学生学习与求职智能助手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457200"/>
            <a:ext cx="118872" cy="65836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49808" y="402336"/>
            <a:ext cx="93268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00" b="1">
                <a:solidFill>
                  <a:srgbClr val="1F2937"/>
                </a:solidFill>
                <a:latin typeface="微软雅黑"/>
                <a:ea typeface="微软雅黑"/>
              </a:rPr>
              <a:t>功能总览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457200"/>
            <a:ext cx="1234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6B7280"/>
                </a:solidFill>
                <a:latin typeface="微软雅黑"/>
                <a:ea typeface="微软雅黑"/>
              </a:rPr>
              <a:t>04 / 13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91640"/>
          <a:ext cx="1110996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23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1628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模块</a:t>
                      </a:r>
                    </a:p>
                  </a:txBody>
                  <a:tcPr marL="137160" marT="54864" marB="54864" anchor="ctr"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dirty="0" err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核心能力</a:t>
                      </a:r>
                      <a:endParaRPr sz="1600" b="1" dirty="0">
                        <a:solidFill>
                          <a:srgbClr val="FFFFFF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137160" marT="54864" marB="54864" anchor="ctr"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亮点</a:t>
                      </a:r>
                    </a:p>
                  </a:txBody>
                  <a:tcPr marL="137160" marT="54864" marB="54864" anchor="ctr">
                    <a:solidFill>
                      <a:srgbClr val="4F46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628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1F2937"/>
                          </a:solidFill>
                          <a:latin typeface="微软雅黑"/>
                          <a:ea typeface="微软雅黑"/>
                        </a:rPr>
                        <a:t>智能对话</a:t>
                      </a:r>
                    </a:p>
                  </a:txBody>
                  <a:tcPr marL="137160" marT="54864" marB="54864" anchor="ctr"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6B7280"/>
                          </a:solidFill>
                          <a:latin typeface="微软雅黑"/>
                          <a:ea typeface="微软雅黑"/>
                        </a:rPr>
                        <a:t>流式输出 · 会话管理 · 三种问答模式</a:t>
                      </a:r>
                    </a:p>
                  </a:txBody>
                  <a:tcPr marL="137160" marT="54864" marB="54864" anchor="ctr"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6B7280"/>
                          </a:solidFill>
                          <a:latin typeface="微软雅黑"/>
                          <a:ea typeface="微软雅黑"/>
                        </a:rPr>
                        <a:t>打字机体验，标题自动生成</a:t>
                      </a:r>
                    </a:p>
                  </a:txBody>
                  <a:tcPr marL="137160" marT="54864" marB="54864" anchor="ctr">
                    <a:solidFill>
                      <a:srgbClr val="F5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628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1F2937"/>
                          </a:solidFill>
                          <a:latin typeface="微软雅黑"/>
                          <a:ea typeface="微软雅黑"/>
                        </a:rPr>
                        <a:t>文档知识问答</a:t>
                      </a:r>
                    </a:p>
                  </a:txBody>
                  <a:tcPr marL="137160" marT="54864" marB="54864" anchor="ctr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6B7280"/>
                          </a:solidFill>
                          <a:latin typeface="微软雅黑"/>
                          <a:ea typeface="微软雅黑"/>
                        </a:rPr>
                        <a:t>RAG 检索 · 分类问答 · 引用来源</a:t>
                      </a:r>
                    </a:p>
                  </a:txBody>
                  <a:tcPr marL="137160" marT="54864" marB="54864" anchor="ctr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6B7280"/>
                          </a:solidFill>
                          <a:latin typeface="微软雅黑"/>
                          <a:ea typeface="微软雅黑"/>
                        </a:rPr>
                        <a:t>学习/简历/面试分类差异化</a:t>
                      </a:r>
                    </a:p>
                  </a:txBody>
                  <a:tcPr marL="137160" marT="54864" marB="54864" anchor="ctr">
                    <a:solidFill>
                      <a:srgbClr val="EEF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1628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1F2937"/>
                          </a:solidFill>
                          <a:latin typeface="微软雅黑"/>
                          <a:ea typeface="微软雅黑"/>
                        </a:rPr>
                        <a:t>技能市场</a:t>
                      </a:r>
                    </a:p>
                  </a:txBody>
                  <a:tcPr marL="137160" marT="54864" marB="54864" anchor="ctr"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6B7280"/>
                          </a:solidFill>
                          <a:latin typeface="微软雅黑"/>
                          <a:ea typeface="微软雅黑"/>
                        </a:rPr>
                        <a:t>内置 + 市场工具 · Function Calling</a:t>
                      </a:r>
                    </a:p>
                  </a:txBody>
                  <a:tcPr marL="137160" marT="54864" marB="54864" anchor="ctr"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6B7280"/>
                          </a:solidFill>
                          <a:latin typeface="微软雅黑"/>
                          <a:ea typeface="微软雅黑"/>
                        </a:rPr>
                        <a:t>工具调用过程可视化</a:t>
                      </a:r>
                    </a:p>
                  </a:txBody>
                  <a:tcPr marL="137160" marT="54864" marB="54864" anchor="ctr">
                    <a:solidFill>
                      <a:srgbClr val="F5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1628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1F2937"/>
                          </a:solidFill>
                          <a:latin typeface="微软雅黑"/>
                          <a:ea typeface="微软雅黑"/>
                        </a:rPr>
                        <a:t>求职辅助</a:t>
                      </a:r>
                    </a:p>
                  </a:txBody>
                  <a:tcPr marL="137160" marT="54864" marB="54864" anchor="ctr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6B7280"/>
                          </a:solidFill>
                          <a:latin typeface="微软雅黑"/>
                          <a:ea typeface="微软雅黑"/>
                        </a:rPr>
                        <a:t>简历检查 · 复习大纲 · 面试经验库</a:t>
                      </a:r>
                    </a:p>
                  </a:txBody>
                  <a:tcPr marL="137160" marT="54864" marB="54864" anchor="ctr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6B7280"/>
                          </a:solidFill>
                          <a:latin typeface="微软雅黑"/>
                          <a:ea typeface="微软雅黑"/>
                        </a:rPr>
                        <a:t>内置 3000 条公开数据集</a:t>
                      </a:r>
                    </a:p>
                  </a:txBody>
                  <a:tcPr marL="137160" marT="54864" marB="54864" anchor="ctr">
                    <a:solidFill>
                      <a:srgbClr val="EEF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1628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1F2937"/>
                          </a:solidFill>
                          <a:latin typeface="微软雅黑"/>
                          <a:ea typeface="微软雅黑"/>
                        </a:rPr>
                        <a:t>系统能力</a:t>
                      </a:r>
                    </a:p>
                  </a:txBody>
                  <a:tcPr marL="137160" marT="54864" marB="54864" anchor="ctr"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6B7280"/>
                          </a:solidFill>
                          <a:latin typeface="微软雅黑"/>
                          <a:ea typeface="微软雅黑"/>
                        </a:rPr>
                        <a:t>暗色 · PWA · 管理后台 · 一键启动</a:t>
                      </a:r>
                    </a:p>
                  </a:txBody>
                  <a:tcPr marL="137160" marT="54864" marB="54864" anchor="ctr"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dirty="0" err="1">
                          <a:solidFill>
                            <a:srgbClr val="6B7280"/>
                          </a:solidFill>
                          <a:latin typeface="微软雅黑"/>
                          <a:ea typeface="微软雅黑"/>
                        </a:rPr>
                        <a:t>移动端适配，一键脚本部署</a:t>
                      </a:r>
                      <a:endParaRPr sz="1500" b="0" dirty="0">
                        <a:solidFill>
                          <a:srgbClr val="6B7280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137160" marT="54864" marB="54864" anchor="ctr">
                    <a:solidFill>
                      <a:srgbClr val="F5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644652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大学生学习与求职智能助手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457200"/>
            <a:ext cx="118872" cy="65836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49808" y="402336"/>
            <a:ext cx="93268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00" b="1">
                <a:solidFill>
                  <a:srgbClr val="1F2937"/>
                </a:solidFill>
                <a:latin typeface="微软雅黑"/>
                <a:ea typeface="微软雅黑"/>
              </a:rPr>
              <a:t>核心功能一：智能对话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457200"/>
            <a:ext cx="1234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6B7280"/>
                </a:solidFill>
                <a:latin typeface="微软雅黑"/>
                <a:ea typeface="微软雅黑"/>
              </a:rPr>
              <a:t>05 / 13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5486400" cy="4297680"/>
          </a:xfrm>
          <a:prstGeom prst="roundRect">
            <a:avLst>
              <a:gd name="adj" fmla="val 6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1856232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4F46E5"/>
                </a:solidFill>
                <a:latin typeface="微软雅黑"/>
                <a:ea typeface="微软雅黑"/>
              </a:rPr>
              <a:t>体验亮点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350008"/>
            <a:ext cx="50292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•  SSE 流式"打字机"输出，边生成边显示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•  会话管理：标题自动生成、历史搜索、删除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•  三种模式自由组合：普通 / 文档 / 联网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•  Markdown 渲染 + 代码高亮 + 一键复制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•  敏感词过滤，守护聊天环境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691640"/>
            <a:ext cx="5394960" cy="4297680"/>
          </a:xfrm>
          <a:prstGeom prst="roundRect">
            <a:avLst>
              <a:gd name="adj" fmla="val 6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37960" y="1856232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4F46E5"/>
                </a:solidFill>
                <a:latin typeface="微软雅黑"/>
                <a:ea typeface="微软雅黑"/>
              </a:rPr>
              <a:t>三种问答模式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350008"/>
            <a:ext cx="493776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00" b="1">
                <a:solidFill>
                  <a:srgbClr val="4F46E5"/>
                </a:solidFill>
                <a:latin typeface="微软雅黑"/>
                <a:ea typeface="微软雅黑"/>
              </a:rPr>
              <a:t>普通问答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6B7280"/>
                </a:solidFill>
                <a:latin typeface="微软雅黑"/>
                <a:ea typeface="微软雅黑"/>
              </a:rPr>
              <a:t>  仅用大模型通用能力直接回答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00" b="1">
                <a:solidFill>
                  <a:srgbClr val="7C3AED"/>
                </a:solidFill>
                <a:latin typeface="微软雅黑"/>
                <a:ea typeface="微软雅黑"/>
              </a:rPr>
              <a:t>文档模式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6B7280"/>
                </a:solidFill>
                <a:latin typeface="微软雅黑"/>
                <a:ea typeface="微软雅黑"/>
              </a:rPr>
              <a:t>  开启后按分类检索个人 / 公共文档库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00" b="1">
                <a:solidFill>
                  <a:srgbClr val="10B981"/>
                </a:solidFill>
                <a:latin typeface="微软雅黑"/>
                <a:ea typeface="微软雅黑"/>
              </a:rPr>
              <a:t>联网搜索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6B7280"/>
                </a:solidFill>
                <a:latin typeface="微软雅黑"/>
                <a:ea typeface="微软雅黑"/>
              </a:rPr>
              <a:t>  开启后调用博查 AI 搜索获取实时信息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4652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大学生学习与求职智能助手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457200"/>
            <a:ext cx="118872" cy="6583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49808" y="402336"/>
            <a:ext cx="93268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00" b="1">
                <a:solidFill>
                  <a:srgbClr val="1F2937"/>
                </a:solidFill>
                <a:latin typeface="微软雅黑"/>
                <a:ea typeface="微软雅黑"/>
              </a:rPr>
              <a:t>核心功能二：RAG 文档知识问答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457200"/>
            <a:ext cx="1234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6B7280"/>
                </a:solidFill>
                <a:latin typeface="微软雅黑"/>
                <a:ea typeface="微软雅黑"/>
              </a:rPr>
              <a:t>06 / 13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7C3AED"/>
                </a:solidFill>
                <a:latin typeface="微软雅黑"/>
                <a:ea typeface="微软雅黑"/>
              </a:rPr>
              <a:t>RAG 工作流程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057400"/>
            <a:ext cx="1600200" cy="822960"/>
          </a:xfrm>
          <a:prstGeom prst="roundRect">
            <a:avLst>
              <a:gd name="adj" fmla="val 15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4360" y="2194560"/>
            <a:ext cx="15087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上传文档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2121408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600" b="1">
                <a:solidFill>
                  <a:srgbClr val="7C3AED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68880" y="2057400"/>
            <a:ext cx="1600200" cy="822960"/>
          </a:xfrm>
          <a:prstGeom prst="roundRect">
            <a:avLst>
              <a:gd name="adj" fmla="val 15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514600" y="2194560"/>
            <a:ext cx="15087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文本提取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60" y="2121408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600" b="1">
                <a:solidFill>
                  <a:srgbClr val="7C3AED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2057400"/>
            <a:ext cx="1600200" cy="822960"/>
          </a:xfrm>
          <a:prstGeom prst="roundRect">
            <a:avLst>
              <a:gd name="adj" fmla="val 15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434840" y="2194560"/>
            <a:ext cx="15087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分块嵌入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2121408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600" b="1">
                <a:solidFill>
                  <a:srgbClr val="7C3AED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2057400"/>
            <a:ext cx="1600200" cy="822960"/>
          </a:xfrm>
          <a:prstGeom prst="roundRect">
            <a:avLst>
              <a:gd name="adj" fmla="val 15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355080" y="2194560"/>
            <a:ext cx="15087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Chroma 向量库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2121408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600" b="1">
                <a:solidFill>
                  <a:srgbClr val="7C3AED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0" y="2057400"/>
            <a:ext cx="1600200" cy="822960"/>
          </a:xfrm>
          <a:prstGeom prst="roundRect">
            <a:avLst>
              <a:gd name="adj" fmla="val 15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75320" y="2194560"/>
            <a:ext cx="15087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相似度检索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0" y="2121408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600" b="1">
                <a:solidFill>
                  <a:srgbClr val="7C3AED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149840" y="2057400"/>
            <a:ext cx="1600200" cy="822960"/>
          </a:xfrm>
          <a:prstGeom prst="roundRect">
            <a:avLst>
              <a:gd name="adj" fmla="val 15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195560" y="2194560"/>
            <a:ext cx="15087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LLM 生成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310896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支持格式：PDF / TXT / MD / PPTX / DOC / DOCX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3657600"/>
            <a:ext cx="3566160" cy="155448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48640" y="3657600"/>
            <a:ext cx="82296" cy="15544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22959" y="379476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00" b="1">
                <a:solidFill>
                  <a:srgbClr val="7C3AED"/>
                </a:solidFill>
                <a:latin typeface="微软雅黑"/>
                <a:ea typeface="微软雅黑"/>
              </a:rPr>
              <a:t>学习资料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59" y="429768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学习导师风格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59" y="466344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深度讲解知识点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43400" y="3657600"/>
            <a:ext cx="3566160" cy="1554480"/>
          </a:xfrm>
          <a:prstGeom prst="roundRect">
            <a:avLst>
              <a:gd name="adj" fmla="val 8000"/>
            </a:avLst>
          </a:prstGeom>
          <a:solidFill>
            <a:srgbClr val="EAFB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4343400" y="3657600"/>
            <a:ext cx="82296" cy="15544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617720" y="379476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00" b="1">
                <a:solidFill>
                  <a:srgbClr val="10B981"/>
                </a:solidFill>
                <a:latin typeface="微软雅黑"/>
                <a:ea typeface="微软雅黑"/>
              </a:rPr>
              <a:t>简历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17720" y="429768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简历优化师风格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17720" y="466344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逐项给出修改建议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38160" y="3657600"/>
            <a:ext cx="3566160" cy="155448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8138160" y="3657600"/>
            <a:ext cx="82296" cy="15544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412480" y="379476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00" b="1">
                <a:solidFill>
                  <a:srgbClr val="F59E0B"/>
                </a:solidFill>
                <a:latin typeface="微软雅黑"/>
                <a:ea typeface="微软雅黑"/>
              </a:rPr>
              <a:t>面试经验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12480" y="429768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面试教练风格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12480" y="466344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模拟面试与追问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5440680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•  相关度阈值过滤（RAG_MIN_SCORE），剔除低相关片段，答案带引用来源、可点击下载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•  内置 3000 条公开数据集（面试题 / 简历 / 学习资料），开箱即用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44652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大学生学习与求职智能助手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457200"/>
            <a:ext cx="118872" cy="6583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49808" y="402336"/>
            <a:ext cx="93268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00" b="1">
                <a:solidFill>
                  <a:srgbClr val="1F2937"/>
                </a:solidFill>
                <a:latin typeface="微软雅黑"/>
                <a:ea typeface="微软雅黑"/>
              </a:rPr>
              <a:t>核心功能三：技能市场 / 工具调用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457200"/>
            <a:ext cx="1234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6B7280"/>
                </a:solidFill>
                <a:latin typeface="微软雅黑"/>
                <a:ea typeface="微软雅黑"/>
              </a:rPr>
              <a:t>07 / 13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00" b="0">
                <a:solidFill>
                  <a:srgbClr val="1F2937"/>
                </a:solidFill>
                <a:latin typeface="微软雅黑"/>
                <a:ea typeface="微软雅黑"/>
              </a:rPr>
              <a:t>基于 LLM Function Calling，让模型"动手干活"，并在前端实时可视化调用过程（开始 / 结果）。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86000"/>
            <a:ext cx="5394960" cy="3291840"/>
          </a:xfrm>
          <a:prstGeom prst="roundRect">
            <a:avLst>
              <a:gd name="adj" fmla="val 6000"/>
            </a:avLst>
          </a:prstGeom>
          <a:solidFill>
            <a:srgbClr val="EAFB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2450592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10B981"/>
                </a:solidFill>
                <a:latin typeface="微软雅黑"/>
                <a:ea typeface="微软雅黑"/>
              </a:rPr>
              <a:t>内置技能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944368"/>
            <a:ext cx="493776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•  计算器 calculator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•  当前时间 datetime_now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•  文本统计 text_statistics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•  复习大纲 review_outline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•  简历检查 resume_check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286000"/>
            <a:ext cx="5394960" cy="3291840"/>
          </a:xfrm>
          <a:prstGeom prst="roundRect">
            <a:avLst>
              <a:gd name="adj" fmla="val 6000"/>
            </a:avLst>
          </a:prstGeom>
          <a:solidFill>
            <a:srgbClr val="F3E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46520" y="2450592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7C3AED"/>
                </a:solidFill>
                <a:latin typeface="微软雅黑"/>
                <a:ea typeface="微软雅黑"/>
              </a:rPr>
              <a:t>市场技能（可启用）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944368"/>
            <a:ext cx="493776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•  联网搜索（博查 / DuckDuckGo）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•  维基百科查询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•  Arxiv 论文检索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•  Python 代码执行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•  技能市场按需开启 / 关闭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80644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0B981"/>
                </a:solidFill>
                <a:latin typeface="微软雅黑"/>
                <a:ea typeface="微软雅黑"/>
              </a:rPr>
              <a:t>演示示例："12 × 34 等于多少？" → 模型自动调用计算器并返回 408，全程可视化。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4652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大学生学习与求职智能助手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457200"/>
            <a:ext cx="118872" cy="65836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49808" y="402336"/>
            <a:ext cx="93268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00" b="1">
                <a:solidFill>
                  <a:srgbClr val="1F2937"/>
                </a:solidFill>
                <a:latin typeface="微软雅黑"/>
                <a:ea typeface="微软雅黑"/>
              </a:rPr>
              <a:t>交互体验亮点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457200"/>
            <a:ext cx="1234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6B7280"/>
                </a:solidFill>
                <a:latin typeface="微软雅黑"/>
                <a:ea typeface="微软雅黑"/>
              </a:rPr>
              <a:t>08 / 13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5440680" cy="2011680"/>
          </a:xfrm>
          <a:prstGeom prst="roundRect">
            <a:avLst>
              <a:gd name="adj" fmla="val 6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1993392"/>
            <a:ext cx="4983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4F46E5"/>
                </a:solidFill>
                <a:latin typeface="微软雅黑"/>
                <a:ea typeface="微软雅黑"/>
              </a:rPr>
              <a:t>🔗  引用可点击下载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487168"/>
            <a:ext cx="49834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6B7280"/>
                </a:solidFill>
                <a:latin typeface="微软雅黑"/>
                <a:ea typeface="微软雅黑"/>
              </a:rPr>
              <a:t>RAG 答案引用来源可点击，个人文档支持直接下载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828800"/>
            <a:ext cx="5440680" cy="2011680"/>
          </a:xfrm>
          <a:prstGeom prst="roundRect">
            <a:avLst>
              <a:gd name="adj" fmla="val 6000"/>
            </a:avLst>
          </a:prstGeom>
          <a:solidFill>
            <a:srgbClr val="F3E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0" y="1993392"/>
            <a:ext cx="4983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7C3AED"/>
                </a:solidFill>
                <a:latin typeface="微软雅黑"/>
                <a:ea typeface="微软雅黑"/>
              </a:rPr>
              <a:t>🌙  暗色模式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487168"/>
            <a:ext cx="49834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6B7280"/>
                </a:solidFill>
                <a:latin typeface="微软雅黑"/>
                <a:ea typeface="微软雅黑"/>
              </a:rPr>
              <a:t>跟随系统偏好 + 本地记忆，一键切换主题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206240"/>
            <a:ext cx="5440680" cy="2011680"/>
          </a:xfrm>
          <a:prstGeom prst="roundRect">
            <a:avLst>
              <a:gd name="adj" fmla="val 6000"/>
            </a:avLst>
          </a:prstGeom>
          <a:solidFill>
            <a:srgbClr val="EAFB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7240" y="4370831"/>
            <a:ext cx="4983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10B981"/>
                </a:solidFill>
                <a:latin typeface="微软雅黑"/>
                <a:ea typeface="微软雅黑"/>
              </a:rPr>
              <a:t>📱  移动端适配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64607"/>
            <a:ext cx="49834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6B7280"/>
                </a:solidFill>
                <a:latin typeface="微软雅黑"/>
                <a:ea typeface="微软雅黑"/>
              </a:rPr>
              <a:t>窄屏自动切换抽屉式会话列表，触控友好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4652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大学生学习与求职智能助手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457200"/>
            <a:ext cx="118872" cy="65836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49808" y="402336"/>
            <a:ext cx="93268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00" b="1">
                <a:solidFill>
                  <a:srgbClr val="1F2937"/>
                </a:solidFill>
                <a:latin typeface="微软雅黑"/>
                <a:ea typeface="微软雅黑"/>
              </a:rPr>
              <a:t>系统架构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457200"/>
            <a:ext cx="1234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6B7280"/>
                </a:solidFill>
                <a:latin typeface="微软雅黑"/>
                <a:ea typeface="微软雅黑"/>
              </a:rPr>
              <a:t>09 / 13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566160" y="1554480"/>
            <a:ext cx="5029200" cy="822960"/>
          </a:xfrm>
          <a:prstGeom prst="roundRect">
            <a:avLst>
              <a:gd name="adj" fmla="val 12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0" y="1554480"/>
            <a:ext cx="48463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前端  Vue3 · Vite · Element Plus</a:t>
            </a:r>
          </a:p>
        </p:txBody>
      </p:sp>
      <p:sp>
        <p:nvSpPr>
          <p:cNvPr id="8" name="Down Arrow 7"/>
          <p:cNvSpPr/>
          <p:nvPr/>
        </p:nvSpPr>
        <p:spPr>
          <a:xfrm>
            <a:off x="5394960" y="2377440"/>
            <a:ext cx="457200" cy="384048"/>
          </a:xfrm>
          <a:prstGeom prst="downArrow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3566160" y="2761488"/>
            <a:ext cx="5029200" cy="822960"/>
          </a:xfrm>
          <a:prstGeom prst="roundRect">
            <a:avLst>
              <a:gd name="adj" fmla="val 12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0" y="2761488"/>
            <a:ext cx="48463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后端  FastAPI · SQLAlchemy · SSE 流式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5394960" y="3584448"/>
            <a:ext cx="457200" cy="384048"/>
          </a:xfrm>
          <a:prstGeom prst="downArrow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22960" y="3968496"/>
            <a:ext cx="3200400" cy="868680"/>
          </a:xfrm>
          <a:prstGeom prst="roundRect">
            <a:avLst>
              <a:gd name="adj" fmla="val 12000"/>
            </a:avLst>
          </a:prstGeom>
          <a:solidFill>
            <a:srgbClr val="3733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3968496"/>
            <a:ext cx="301752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MySQL
用户 / 会话 / 文档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80560" y="3968496"/>
            <a:ext cx="3200400" cy="868680"/>
          </a:xfrm>
          <a:prstGeom prst="roundRect">
            <a:avLst>
              <a:gd name="adj" fmla="val 12000"/>
            </a:avLst>
          </a:prstGeom>
          <a:solidFill>
            <a:srgbClr val="3733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72000" y="3968496"/>
            <a:ext cx="301752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Redis
缓存 / 限流计数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3968496"/>
            <a:ext cx="3200400" cy="868680"/>
          </a:xfrm>
          <a:prstGeom prst="roundRect">
            <a:avLst>
              <a:gd name="adj" fmla="val 12000"/>
            </a:avLst>
          </a:prstGeom>
          <a:solidFill>
            <a:srgbClr val="3733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29600" y="3968496"/>
            <a:ext cx="301752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Chroma 向量库
文档嵌入检索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5394960" y="4846320"/>
            <a:ext cx="457200" cy="384048"/>
          </a:xfrm>
          <a:prstGeom prst="downArrow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3566160" y="5230368"/>
            <a:ext cx="5029200" cy="868680"/>
          </a:xfrm>
          <a:prstGeom prst="roundRect">
            <a:avLst>
              <a:gd name="adj" fmla="val 12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657600" y="5230368"/>
            <a:ext cx="484632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DeepSeek LLM · 博查搜索 · 工具 API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30936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6B7280"/>
                </a:solidFill>
                <a:latin typeface="微软雅黑"/>
                <a:ea typeface="微软雅黑"/>
              </a:rPr>
              <a:t>部署：Docker Compose 编排数据层（MySQL + Redis + Chroma），一键启动脚本拉起全部服务。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大学生学习与求职智能助手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457200"/>
            <a:ext cx="118872" cy="65836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49808" y="402336"/>
            <a:ext cx="93268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00" b="1">
                <a:solidFill>
                  <a:srgbClr val="1F2937"/>
                </a:solidFill>
                <a:latin typeface="微软雅黑"/>
                <a:ea typeface="微软雅黑"/>
              </a:rPr>
              <a:t>技术栈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457200"/>
            <a:ext cx="1234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6B7280"/>
                </a:solidFill>
                <a:latin typeface="微软雅黑"/>
                <a:ea typeface="微软雅黑"/>
              </a:rPr>
              <a:t>10 / 13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2697480" cy="3840480"/>
          </a:xfrm>
          <a:prstGeom prst="roundRect">
            <a:avLst>
              <a:gd name="adj" fmla="val 6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1993392"/>
            <a:ext cx="2240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4F46E5"/>
                </a:solidFill>
                <a:latin typeface="微软雅黑"/>
                <a:ea typeface="微软雅黑"/>
              </a:rPr>
              <a:t>前端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487168"/>
            <a:ext cx="224028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Vue 3 + Vite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Element Plus UI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Pinia 状态管理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marked + highlight.js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64992" y="1828800"/>
            <a:ext cx="2697480" cy="3840480"/>
          </a:xfrm>
          <a:prstGeom prst="roundRect">
            <a:avLst>
              <a:gd name="adj" fmla="val 6000"/>
            </a:avLst>
          </a:prstGeom>
          <a:solidFill>
            <a:srgbClr val="F3E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593592" y="1993392"/>
            <a:ext cx="2240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7C3AED"/>
                </a:solidFill>
                <a:latin typeface="微软雅黑"/>
                <a:ea typeface="微软雅黑"/>
              </a:rPr>
              <a:t>后端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93592" y="2487168"/>
            <a:ext cx="224028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Python + FastAPI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SQLAlchemy + Pydantic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Uvicorn 异步服务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SSE 流式接口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1344" y="1828800"/>
            <a:ext cx="2697480" cy="3840480"/>
          </a:xfrm>
          <a:prstGeom prst="roundRect">
            <a:avLst>
              <a:gd name="adj" fmla="val 6000"/>
            </a:avLst>
          </a:prstGeom>
          <a:solidFill>
            <a:srgbClr val="EAFB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9944" y="1993392"/>
            <a:ext cx="2240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10B981"/>
                </a:solidFill>
                <a:latin typeface="微软雅黑"/>
                <a:ea typeface="微软雅黑"/>
              </a:rPr>
              <a:t>AI 与检索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9944" y="2487168"/>
            <a:ext cx="224028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DeepSeek-chat 大模型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LangChain bind_tools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Chroma 向量检索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嵌入向量生成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97696" y="1828800"/>
            <a:ext cx="2697480" cy="3840480"/>
          </a:xfrm>
          <a:prstGeom prst="roundRect">
            <a:avLst>
              <a:gd name="adj" fmla="val 6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226296" y="1993392"/>
            <a:ext cx="2240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F59E0B"/>
                </a:solidFill>
                <a:latin typeface="微软雅黑"/>
                <a:ea typeface="微软雅黑"/>
              </a:rPr>
              <a:t>数据与部署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26296" y="2487168"/>
            <a:ext cx="224028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MySQL 8 / Redis 7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Docker Compose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一键启动脚本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PWA 离线支持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4652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大学生学习与求职智能助手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457200"/>
            <a:ext cx="118872" cy="65836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49808" y="402336"/>
            <a:ext cx="93268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00" b="1">
                <a:solidFill>
                  <a:srgbClr val="1F2937"/>
                </a:solidFill>
                <a:latin typeface="微软雅黑"/>
                <a:ea typeface="微软雅黑"/>
              </a:rPr>
              <a:t>安全与健壮性设计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457200"/>
            <a:ext cx="1234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6B7280"/>
                </a:solidFill>
                <a:latin typeface="微软雅黑"/>
                <a:ea typeface="微软雅黑"/>
              </a:rPr>
              <a:t>11 / 13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5486400" cy="4206240"/>
          </a:xfrm>
          <a:prstGeom prst="roundRect">
            <a:avLst>
              <a:gd name="adj" fmla="val 6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1901952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4F46E5"/>
                </a:solidFill>
                <a:latin typeface="微软雅黑"/>
                <a:ea typeface="微软雅黑"/>
              </a:rPr>
              <a:t>安全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395728"/>
            <a:ext cx="5029200" cy="33832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•  JWT 令牌认证，token 存 sessionStorage 防 XSS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•  密码 bcrypt 加密存储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•  接口限流 + 登录防爆破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•  敏感词过滤，拦截违规内容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737360"/>
            <a:ext cx="5394960" cy="4206240"/>
          </a:xfrm>
          <a:prstGeom prst="roundRect">
            <a:avLst>
              <a:gd name="adj" fmla="val 6000"/>
            </a:avLst>
          </a:prstGeom>
          <a:solidFill>
            <a:srgbClr val="F3E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37960" y="1901952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7C3AED"/>
                </a:solidFill>
                <a:latin typeface="微软雅黑"/>
                <a:ea typeface="微软雅黑"/>
              </a:rPr>
              <a:t>健壮性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395728"/>
            <a:ext cx="4937760" cy="33832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•  账号 5 次 / 10 分钟、IP 20 次 / 10 分钟登录限制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•  全局单 IP 300 次 / 分钟限流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•  长对话上下文自动截断，防 token 超限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•  工具名去重合并，避免 LLM 400 报错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4652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大学生学习与求职智能助手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457200"/>
            <a:ext cx="118872" cy="65836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49808" y="402336"/>
            <a:ext cx="93268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00" b="1">
                <a:solidFill>
                  <a:srgbClr val="1F2937"/>
                </a:solidFill>
                <a:latin typeface="微软雅黑"/>
                <a:ea typeface="微软雅黑"/>
              </a:rPr>
              <a:t>现场演示流程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457200"/>
            <a:ext cx="1234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6B7280"/>
                </a:solidFill>
                <a:latin typeface="微软雅黑"/>
                <a:ea typeface="微软雅黑"/>
              </a:rPr>
              <a:t>12 / 13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548640" y="1691640"/>
            <a:ext cx="548640" cy="566928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70992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1737360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00" b="1">
                <a:solidFill>
                  <a:srgbClr val="1F2937"/>
                </a:solidFill>
                <a:latin typeface="微软雅黑"/>
                <a:ea typeface="微软雅黑"/>
              </a:rPr>
              <a:t>登录系统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1783080"/>
            <a:ext cx="6766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6B7280"/>
                </a:solidFill>
                <a:latin typeface="微软雅黑"/>
                <a:ea typeface="微软雅黑"/>
              </a:rPr>
              <a:t>进入主界面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2350008"/>
            <a:ext cx="548640" cy="56692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236829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2395728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00" b="1">
                <a:solidFill>
                  <a:srgbClr val="1F2937"/>
                </a:solidFill>
                <a:latin typeface="微软雅黑"/>
                <a:ea typeface="微软雅黑"/>
              </a:rPr>
              <a:t>普通问答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2441448"/>
            <a:ext cx="6766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6B7280"/>
                </a:solidFill>
                <a:latin typeface="微软雅黑"/>
                <a:ea typeface="微软雅黑"/>
              </a:rPr>
              <a:t>打字机流式输出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008376"/>
            <a:ext cx="548640" cy="566928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48640" y="302666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3054096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00" b="1">
                <a:solidFill>
                  <a:srgbClr val="1F2937"/>
                </a:solidFill>
                <a:latin typeface="微软雅黑"/>
                <a:ea typeface="微软雅黑"/>
              </a:rPr>
              <a:t>文档模式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3099816"/>
            <a:ext cx="6766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6B7280"/>
                </a:solidFill>
                <a:latin typeface="微软雅黑"/>
                <a:ea typeface="微软雅黑"/>
              </a:rPr>
              <a:t>提问《视觉问答系统》看引用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3666744"/>
            <a:ext cx="548640" cy="56692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48640" y="3685031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3712463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00" b="1">
                <a:solidFill>
                  <a:srgbClr val="1F2937"/>
                </a:solidFill>
                <a:latin typeface="微软雅黑"/>
                <a:ea typeface="微软雅黑"/>
              </a:rPr>
              <a:t>工具调用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0" y="3758183"/>
            <a:ext cx="6766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6B7280"/>
                </a:solidFill>
                <a:latin typeface="微软雅黑"/>
                <a:ea typeface="微软雅黑"/>
              </a:rPr>
              <a:t>12×34 自动调计算器</a:t>
            </a:r>
          </a:p>
        </p:txBody>
      </p:sp>
      <p:sp>
        <p:nvSpPr>
          <p:cNvPr id="22" name="Oval 21"/>
          <p:cNvSpPr/>
          <p:nvPr/>
        </p:nvSpPr>
        <p:spPr>
          <a:xfrm>
            <a:off x="548640" y="4325112"/>
            <a:ext cx="548640" cy="566928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48640" y="4343399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4370831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00" b="1">
                <a:solidFill>
                  <a:srgbClr val="1F2937"/>
                </a:solidFill>
                <a:latin typeface="微软雅黑"/>
                <a:ea typeface="微软雅黑"/>
              </a:rPr>
              <a:t>技能市场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0" y="4416551"/>
            <a:ext cx="6766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6B7280"/>
                </a:solidFill>
                <a:latin typeface="微软雅黑"/>
                <a:ea typeface="微软雅黑"/>
              </a:rPr>
              <a:t>启用 / 禁用工具</a:t>
            </a:r>
          </a:p>
        </p:txBody>
      </p:sp>
      <p:sp>
        <p:nvSpPr>
          <p:cNvPr id="26" name="Oval 25"/>
          <p:cNvSpPr/>
          <p:nvPr/>
        </p:nvSpPr>
        <p:spPr>
          <a:xfrm>
            <a:off x="548640" y="4983479"/>
            <a:ext cx="548640" cy="56692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48640" y="5001767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25880" y="5029199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00" b="1">
                <a:solidFill>
                  <a:srgbClr val="1F2937"/>
                </a:solidFill>
                <a:latin typeface="微软雅黑"/>
                <a:ea typeface="微软雅黑"/>
              </a:rPr>
              <a:t>求职辅助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0" y="5074919"/>
            <a:ext cx="6766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6B7280"/>
                </a:solidFill>
                <a:latin typeface="微软雅黑"/>
                <a:ea typeface="微软雅黑"/>
              </a:rPr>
              <a:t>简历检查、面试问答</a:t>
            </a:r>
          </a:p>
        </p:txBody>
      </p:sp>
      <p:sp>
        <p:nvSpPr>
          <p:cNvPr id="30" name="Oval 29"/>
          <p:cNvSpPr/>
          <p:nvPr/>
        </p:nvSpPr>
        <p:spPr>
          <a:xfrm>
            <a:off x="548640" y="5641847"/>
            <a:ext cx="548640" cy="566928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48640" y="5660135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</a:rPr>
              <a:t>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25880" y="5687567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00" b="1">
                <a:solidFill>
                  <a:srgbClr val="1F2937"/>
                </a:solidFill>
                <a:latin typeface="微软雅黑"/>
                <a:ea typeface="微软雅黑"/>
              </a:rPr>
              <a:t>体验亮点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54880" y="5733287"/>
            <a:ext cx="6766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6B7280"/>
                </a:solidFill>
                <a:latin typeface="微软雅黑"/>
                <a:ea typeface="微软雅黑"/>
              </a:rPr>
              <a:t>暗色、引用下载、管理后台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644652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大学生学习与求职智能助手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457200"/>
            <a:ext cx="118872" cy="65836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49808" y="402336"/>
            <a:ext cx="93268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00" b="1">
                <a:solidFill>
                  <a:srgbClr val="1F2937"/>
                </a:solidFill>
                <a:latin typeface="微软雅黑"/>
                <a:ea typeface="微软雅黑"/>
              </a:rPr>
              <a:t>总结与展望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457200"/>
            <a:ext cx="1234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6B7280"/>
                </a:solidFill>
                <a:latin typeface="微软雅黑"/>
                <a:ea typeface="微软雅黑"/>
              </a:rPr>
              <a:t>13 / 13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5486400" cy="4023360"/>
          </a:xfrm>
          <a:prstGeom prst="roundRect">
            <a:avLst>
              <a:gd name="adj" fmla="val 6000"/>
            </a:avLst>
          </a:prstGeom>
          <a:solidFill>
            <a:srgbClr val="EAFB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1901952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10B981"/>
                </a:solidFill>
                <a:latin typeface="微软雅黑"/>
                <a:ea typeface="微软雅黑"/>
              </a:rPr>
              <a:t>已实现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395728"/>
            <a:ext cx="502920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•  对话 + RAG + 工具调用一体化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•  学习 / 简历 / 面试分类差异化问答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•  工具调用过程可视化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•  限流防爆破、敏感词等安全设计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•  Docker + 一键脚本部署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737360"/>
            <a:ext cx="5394960" cy="4023360"/>
          </a:xfrm>
          <a:prstGeom prst="roundRect">
            <a:avLst>
              <a:gd name="adj" fmla="val 6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37960" y="1901952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F59E0B"/>
                </a:solidFill>
                <a:latin typeface="微软雅黑"/>
                <a:ea typeface="微软雅黑"/>
              </a:rPr>
              <a:t>展望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395728"/>
            <a:ext cx="493776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•  多模态：图片问答、图文理解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•  求职场景深化：AI 模拟面试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•  向量库优化：混合检索、重排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•  云端部署，多端在线使用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2200" b="1">
                <a:solidFill>
                  <a:srgbClr val="4F46E5"/>
                </a:solidFill>
                <a:latin typeface="微软雅黑"/>
                <a:ea typeface="微软雅黑"/>
              </a:rPr>
              <a:t>感谢聆听，欢迎提问！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4652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大学生学习与求职智能助手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453</TotalTime>
  <Words>671</Words>
  <Application>Microsoft Office PowerPoint</Application>
  <PresentationFormat>宽屏</PresentationFormat>
  <Paragraphs>215</Paragraphs>
  <Slides>13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18" baseType="lpstr">
      <vt:lpstr>等线</vt:lpstr>
      <vt:lpstr>微软雅黑</vt:lpstr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罐头 鱼</cp:lastModifiedBy>
  <cp:revision>2</cp:revision>
  <dcterms:created xsi:type="dcterms:W3CDTF">2013-01-27T09:14:16Z</dcterms:created>
  <dcterms:modified xsi:type="dcterms:W3CDTF">2026-08-27T10:03:47Z</dcterms:modified>
  <cp:category/>
</cp:coreProperties>
</file>