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029200"/>
            <a:ext cx="4754880" cy="4754880"/>
          </a:xfrm>
          <a:prstGeom prst="ellipse">
            <a:avLst/>
          </a:prstGeom>
          <a:solidFill>
            <a:srgbClr val="37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66960" y="5486400"/>
            <a:ext cx="1371600" cy="13716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8229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85953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AI 学习助手 · 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DDE2FF"/>
                </a:solidFill>
                <a:latin typeface="微软雅黑"/>
                <a:ea typeface="微软雅黑"/>
              </a:rPr>
              <a:t>基于大模型的智能问答  ×  RAG 文档检索  ×  工具调用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BBC3FF"/>
                </a:solidFill>
                <a:latin typeface="微软雅黑"/>
                <a:ea typeface="微软雅黑"/>
              </a:rPr>
              <a:t>全栈 Web 应用   ·   FastAPI + Vue3 + DeepSeek + Chroma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99A3F0"/>
                </a:solidFill>
                <a:latin typeface="微软雅黑"/>
                <a:ea typeface="微软雅黑"/>
              </a:rPr>
              <a:t>汇报人：________      日期：________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项目背景与痛点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02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F46E5"/>
                </a:solidFill>
                <a:latin typeface="微软雅黑"/>
                <a:ea typeface="微软雅黑"/>
              </a:rPr>
              <a:t>信息分散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学习资料、简历模板、面试经验散落在各处，查找效率低，难以沉淀。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7C3AED"/>
                </a:solidFill>
                <a:latin typeface="微软雅黑"/>
                <a:ea typeface="微软雅黑"/>
              </a:rPr>
              <a:t>大模型不认文档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95728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通用大模型无法检索个人文档，回答泛泛而谈、没有依据，不接地气。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EAF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0B981"/>
                </a:solidFill>
                <a:latin typeface="微软雅黑"/>
                <a:ea typeface="微软雅黑"/>
              </a:rPr>
              <a:t>只会聊天不能干活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95728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算不了数、查不了实时信息、执行不了代码，"动手能力"缺失。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109960" cy="105156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389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F46E5"/>
                </a:solidFill>
                <a:latin typeface="微软雅黑"/>
                <a:ea typeface="微软雅黑"/>
              </a:rPr>
              <a:t>结论：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F2937"/>
                </a:solidFill>
                <a:latin typeface="微软雅黑"/>
                <a:ea typeface="微软雅黑"/>
              </a:rPr>
              <a:t>需要"懂我的资料、能动手干活"的专属 AI 助手，覆盖学习与求职全场景。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项目简介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03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4F46E5"/>
                </a:solidFill>
                <a:latin typeface="微软雅黑"/>
                <a:ea typeface="微软雅黑"/>
              </a:rPr>
              <a:t>一句话定位：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1F2937"/>
                </a:solidFill>
                <a:latin typeface="微软雅黑"/>
                <a:ea typeface="微软雅黑"/>
              </a:rPr>
              <a:t>一款给大学生打造的专属 AI 助手，融合智能对话、文档知识问答、工具调用与求职辅助。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智能对话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流式输出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联网搜索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Markdown 渲染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32004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文档问答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931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上传文档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44348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RAG 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9377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引用作答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32004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工具调用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931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计算器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44348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查资料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9377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执行代码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28803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32004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求职辅助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3931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简历检查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44348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面试经验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49377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DDE2FF"/>
                </a:solidFill>
                <a:latin typeface="微软雅黑"/>
                <a:ea typeface="微软雅黑"/>
              </a:rPr>
              <a:t>学习资料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功能总览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04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1099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623560"/>
                <a:gridCol w="3291840"/>
              </a:tblGrid>
              <a:tr h="71628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</a:p>
                  </a:txBody>
                  <a:tcPr marL="137160" marR="91440" marT="54864" marB="54864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核心能力</a:t>
                      </a:r>
                    </a:p>
                  </a:txBody>
                  <a:tcPr marL="137160" marR="91440" marT="54864" marB="54864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亮点</a:t>
                      </a:r>
                    </a:p>
                  </a:txBody>
                  <a:tcPr marL="137160" marR="91440" marT="54864" marB="54864" anchor="ctr">
                    <a:solidFill>
                      <a:srgbClr val="4F46E5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智能对话</a:t>
                      </a:r>
                    </a:p>
                  </a:txBody>
                  <a:tcPr marL="137160" marR="91440" marT="54864" marB="54864" anchor="ctr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</a:rPr>
                        <a:t>流式输出 · 会话管理 · 三种问答模式</a:t>
                      </a:r>
                    </a:p>
                  </a:txBody>
                  <a:tcPr marL="137160" marR="91440" marT="54864" marB="54864" anchor="ctr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</a:rPr>
                        <a:t>打字机体验，标题自动生成</a:t>
                      </a:r>
                    </a:p>
                  </a:txBody>
                  <a:tcPr marL="137160" marR="91440" marT="54864" marB="54864" anchor="ctr">
                    <a:solidFill>
                      <a:srgbClr val="F5F6FA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文档知识问答</a:t>
                      </a:r>
                    </a:p>
                  </a:txBody>
                  <a:tcPr marL="137160" marR="91440" marT="54864" marB="54864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</a:rPr>
                        <a:t>RAG 检索 · 分类问答 · 引用来源</a:t>
                      </a:r>
                    </a:p>
                  </a:txBody>
                  <a:tcPr marL="137160" marR="91440" marT="54864" marB="54864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</a:rPr>
                        <a:t>学习/简历/面试分类差异化</a:t>
                      </a:r>
                    </a:p>
                  </a:txBody>
                  <a:tcPr marL="137160" marR="91440" marT="54864" marB="54864" anchor="ctr">
                    <a:solidFill>
                      <a:srgbClr val="EEF2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技能市场</a:t>
                      </a:r>
                    </a:p>
                  </a:txBody>
                  <a:tcPr marL="137160" marR="91440" marT="54864" marB="54864" anchor="ctr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</a:rPr>
                        <a:t>内置 + 市场工具 · Function Calling</a:t>
                      </a:r>
                    </a:p>
                  </a:txBody>
                  <a:tcPr marL="137160" marR="91440" marT="54864" marB="54864" anchor="ctr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</a:rPr>
                        <a:t>工具调用过程可视化</a:t>
                      </a:r>
                    </a:p>
                  </a:txBody>
                  <a:tcPr marL="137160" marR="91440" marT="54864" marB="54864" anchor="ctr">
                    <a:solidFill>
                      <a:srgbClr val="F5F6FA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求职辅助</a:t>
                      </a:r>
                    </a:p>
                  </a:txBody>
                  <a:tcPr marL="137160" marR="91440" marT="54864" marB="54864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</a:rPr>
                        <a:t>简历检查 · 复习大纲 · 面试经验库</a:t>
                      </a:r>
                    </a:p>
                  </a:txBody>
                  <a:tcPr marL="137160" marR="91440" marT="54864" marB="54864" anchor="ctr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</a:rPr>
                        <a:t>内置 3000 条公开数据集</a:t>
                      </a:r>
                    </a:p>
                  </a:txBody>
                  <a:tcPr marL="137160" marR="91440" marT="54864" marB="54864" anchor="ctr">
                    <a:solidFill>
                      <a:srgbClr val="EEF2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系统能力</a:t>
                      </a:r>
                    </a:p>
                  </a:txBody>
                  <a:tcPr marL="137160" marR="91440" marT="54864" marB="54864" anchor="ctr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</a:rPr>
                        <a:t>暗色 · PWA · 管理后台 · 一键启动</a:t>
                      </a:r>
                    </a:p>
                  </a:txBody>
                  <a:tcPr marL="137160" marR="91440" marT="54864" marB="54864" anchor="ctr">
                    <a:solidFill>
                      <a:srgbClr val="F5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6B7280"/>
                          </a:solidFill>
                          <a:latin typeface="微软雅黑"/>
                          <a:ea typeface="微软雅黑"/>
                        </a:rPr>
                        <a:t>移动端适配，一键脚本部署</a:t>
                      </a:r>
                    </a:p>
                  </a:txBody>
                  <a:tcPr marL="137160" marR="91440" marT="54864" marB="54864" anchor="ctr"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核心功能一：智能对话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05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F46E5"/>
                </a:solidFill>
                <a:latin typeface="微软雅黑"/>
                <a:ea typeface="微软雅黑"/>
              </a:rPr>
              <a:t>体验亮点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0008"/>
            <a:ext cx="5029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SSE 流式"打字机"输出，边生成边显示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会话管理：标题自动生成、历史搜索、删除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三种模式自由组合：普通 / 文档 / 联网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Markdown 渲染 + 代码高亮 + 一键复制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敏感词过滤，守护聊天环境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5623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F46E5"/>
                </a:solidFill>
                <a:latin typeface="微软雅黑"/>
                <a:ea typeface="微软雅黑"/>
              </a:rPr>
              <a:t>三种问答模式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50008"/>
            <a:ext cx="4937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F46E5"/>
                </a:solidFill>
                <a:latin typeface="微软雅黑"/>
                <a:ea typeface="微软雅黑"/>
              </a:rPr>
              <a:t>普通问答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  仅用大模型通用能力直接回答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7C3AED"/>
                </a:solidFill>
                <a:latin typeface="微软雅黑"/>
                <a:ea typeface="微软雅黑"/>
              </a:rPr>
              <a:t>文档模式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  开启后按分类检索个人 / 公共文档库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0B981"/>
                </a:solidFill>
                <a:latin typeface="微软雅黑"/>
                <a:ea typeface="微软雅黑"/>
              </a:rPr>
              <a:t>联网搜索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  开启后调用博查 AI 搜索获取实时信息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核心功能二：RAG 文档知识问答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06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7C3AED"/>
                </a:solidFill>
                <a:latin typeface="微软雅黑"/>
                <a:ea typeface="微软雅黑"/>
              </a:rPr>
              <a:t>RAG 工作流程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上传文档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21408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7C3AE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057400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21945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文本提取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121408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7C3AE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57400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分块嵌入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21408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7C3AE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57400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Chroma 向量库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121408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7C3AE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057400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1945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相似度检索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121408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7C3AED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2057400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21945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LLM 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支持格式：PDF / TXT / MD / PPTX / DOC / DOCX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576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657600"/>
            <a:ext cx="8229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7947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7C3AED"/>
                </a:solidFill>
                <a:latin typeface="微软雅黑"/>
                <a:ea typeface="微软雅黑"/>
              </a:rPr>
              <a:t>学习资料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2976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学习导师风格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63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深度讲解知识点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6576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EAF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657600"/>
            <a:ext cx="82296" cy="1554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7947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10B981"/>
                </a:solidFill>
                <a:latin typeface="微软雅黑"/>
                <a:ea typeface="微软雅黑"/>
              </a:rPr>
              <a:t>简历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2976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简历优化师风格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663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逐项给出修改建议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6576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657600"/>
            <a:ext cx="82296" cy="1554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7947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59E0B"/>
                </a:solidFill>
                <a:latin typeface="微软雅黑"/>
                <a:ea typeface="微软雅黑"/>
              </a:rPr>
              <a:t>面试经验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2976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面试教练风格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663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模拟面试与追问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•  相关度阈值过滤（RAG_MIN_SCORE），剔除低相关片段，答案带引用来源、可点击下载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•  内置 3000 条公开数据集（面试题 / 简历 / 学习资料），开箱即用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核心功能三：技能市场 / 工具调用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07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基于 LLM Function Calling，让模型"动手干活"，并在前端实时可视化调用过程（开始 / 结果）。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EAF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505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0B981"/>
                </a:solidFill>
                <a:latin typeface="微软雅黑"/>
                <a:ea typeface="微软雅黑"/>
              </a:rPr>
              <a:t>内置技能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49377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计算器 calculator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当前时间 datetime_now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文本统计 text_statistics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复习大纲 review_outline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简历检查 resume_check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505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7C3AED"/>
                </a:solidFill>
                <a:latin typeface="微软雅黑"/>
                <a:ea typeface="微软雅黑"/>
              </a:rPr>
              <a:t>市场技能（可启用）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44368"/>
            <a:ext cx="49377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联网搜索（博查 / DuckDuckGo）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维基百科查询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Arxiv 论文检索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Python 代码执行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技能市场按需开启 / 关闭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0B981"/>
                </a:solidFill>
                <a:latin typeface="微软雅黑"/>
                <a:ea typeface="微软雅黑"/>
              </a:rPr>
              <a:t>演示示例："12 × 34 等于多少？" → 模型自动调用计算器并返回 408，全程可视化。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长期记忆：越聊越懂你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08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会话级摘要记忆 + 用户级画像记忆，让助手记住你的背景与历史，跨会话持续可用。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5059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EC4899"/>
                </a:solidFill>
                <a:latin typeface="微软雅黑"/>
                <a:ea typeface="微软雅黑"/>
              </a:rPr>
              <a:t>会话摘要记忆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50292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每轮对话后 LLM 滚动压缩历史摘要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长对话被截断后仍保留关键信息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可追问早前聊过的话题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505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F46E5"/>
                </a:solidFill>
                <a:latin typeface="微软雅黑"/>
                <a:ea typeface="微软雅黑"/>
              </a:rPr>
              <a:t>用户画像记忆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44368"/>
            <a:ext cx="49377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自动提取专业 / 年级 / 目标 / 偏好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跨会话记住你是谁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新会话自动注入画像，回答更贴合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EC4899"/>
                </a:solidFill>
                <a:latin typeface="微软雅黑"/>
                <a:ea typeface="微软雅黑"/>
              </a:rPr>
              <a:t>演示：告诉助手 我是计算机大三、目标浙大考研 → 新建会话后它依然记得。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交互体验亮点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09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F46E5"/>
                </a:solidFill>
                <a:latin typeface="微软雅黑"/>
                <a:ea typeface="微软雅黑"/>
              </a:rPr>
              <a:t>🔗  引用可点击下载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4983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RAG 答案引用来源可点击，个人文档支持直接下载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7C3AED"/>
                </a:solidFill>
                <a:latin typeface="微软雅黑"/>
                <a:ea typeface="微软雅黑"/>
              </a:rPr>
              <a:t>🌙  暗色模式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87168"/>
            <a:ext cx="4983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跟随系统偏好 + 本地记忆，一键切换主题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EAF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70831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0B981"/>
                </a:solidFill>
                <a:latin typeface="微软雅黑"/>
                <a:ea typeface="微软雅黑"/>
              </a:rPr>
              <a:t>📱  移动端适配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64607"/>
            <a:ext cx="4983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窄屏自动切换抽屉式会话列表，触控友好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0624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70831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⚡  PWA 应用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64607"/>
            <a:ext cx="4983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可安装到桌面、独立窗口运行、离线可用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10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66160" y="1554480"/>
            <a:ext cx="5029200" cy="82296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前端  Vue3 · Vite · Element Plus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394960" y="2377440"/>
            <a:ext cx="457200" cy="384048"/>
          </a:xfrm>
          <a:prstGeom prst="down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761488"/>
            <a:ext cx="5029200" cy="82296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761488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后端  FastAPI · SQLAlchemy · SSE 流式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394960" y="3584448"/>
            <a:ext cx="457200" cy="384048"/>
          </a:xfrm>
          <a:prstGeom prst="down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968496"/>
            <a:ext cx="3200400" cy="868680"/>
          </a:xfrm>
          <a:prstGeom prst="roundRect">
            <a:avLst>
              <a:gd name="adj" fmla="val 12000"/>
            </a:avLst>
          </a:prstGeom>
          <a:solidFill>
            <a:srgbClr val="37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68496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MySQL
用户 / 会话 / 文档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968496"/>
            <a:ext cx="3200400" cy="868680"/>
          </a:xfrm>
          <a:prstGeom prst="roundRect">
            <a:avLst>
              <a:gd name="adj" fmla="val 12000"/>
            </a:avLst>
          </a:prstGeom>
          <a:solidFill>
            <a:srgbClr val="37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968496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Redis
限流计数（固定窗口）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968496"/>
            <a:ext cx="3200400" cy="868680"/>
          </a:xfrm>
          <a:prstGeom prst="roundRect">
            <a:avLst>
              <a:gd name="adj" fmla="val 12000"/>
            </a:avLst>
          </a:prstGeom>
          <a:solidFill>
            <a:srgbClr val="373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968496"/>
            <a:ext cx="30175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Chroma 向量库
文档嵌入检索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394960" y="4846320"/>
            <a:ext cx="457200" cy="384048"/>
          </a:xfrm>
          <a:prstGeom prst="down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5230368"/>
            <a:ext cx="5029200" cy="86868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5230368"/>
            <a:ext cx="4846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DeepSeek LLM · 博查搜索 · 工具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微软雅黑"/>
                <a:ea typeface="微软雅黑"/>
              </a:rPr>
              <a:t>部署：Docker Compose 编排数据层（MySQL + Redis + Chroma），一键启动脚本拉起全部服务。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11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F46E5"/>
                </a:solidFill>
                <a:latin typeface="微软雅黑"/>
                <a:ea typeface="微软雅黑"/>
              </a:rPr>
              <a:t>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22402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Vue 3 + Vite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Element Plus UI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Pinia 状态管理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marked + highlight.js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82880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993392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7C3AED"/>
                </a:solidFill>
                <a:latin typeface="微软雅黑"/>
                <a:ea typeface="微软雅黑"/>
              </a:rPr>
              <a:t>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487168"/>
            <a:ext cx="22402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Python + FastAPI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SQLAlchemy + Pydantic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Uvicorn 异步服务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SSE 流式接口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2880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EAF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993392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0B981"/>
                </a:solidFill>
                <a:latin typeface="微软雅黑"/>
                <a:ea typeface="微软雅黑"/>
              </a:rPr>
              <a:t>AI 与检索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487168"/>
            <a:ext cx="22402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DeepSeek-chat 大模型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LangChain bind_tools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Chroma 向量检索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嵌入向量生成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82880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296" y="1993392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数据与部署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2487168"/>
            <a:ext cx="22402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MySQL 8 / Redis 7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Docker Compose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一键启动脚本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</a:rPr>
              <a:t>PWA 离线支持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安全与健壮性设计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12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4F46E5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029200" cy="3383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JWT 令牌认证，token 存 sessionStorage 防 XSS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密码 bcrypt 加密存储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Redis 接口限流 + 登录防爆破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敏感词过滤，拦截违规内容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0195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7C3AED"/>
                </a:solidFill>
                <a:latin typeface="微软雅黑"/>
                <a:ea typeface="微软雅黑"/>
              </a:rPr>
              <a:t>健壮性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95728"/>
            <a:ext cx="4937760" cy="3383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账号 5 次 / 10 分钟、IP 20 次 / 10 分钟登录限制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全局单 IP 300 次 / 分钟限流（Redis）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长对话上下文自动截断，防 token 超限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工具名去重合并，避免 LLM 400 报错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现场演示流程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13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48640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099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373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F2937"/>
                </a:solidFill>
                <a:latin typeface="微软雅黑"/>
                <a:ea typeface="微软雅黑"/>
              </a:rPr>
              <a:t>登录系统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8308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进入主界面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350008"/>
            <a:ext cx="548640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682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9572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F2937"/>
                </a:solidFill>
                <a:latin typeface="微软雅黑"/>
                <a:ea typeface="微软雅黑"/>
              </a:rPr>
              <a:t>普通问答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41448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打字机流式输出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08376"/>
            <a:ext cx="548640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266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05409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F2937"/>
                </a:solidFill>
                <a:latin typeface="微软雅黑"/>
                <a:ea typeface="微软雅黑"/>
              </a:rPr>
              <a:t>文档模式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99816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提问《视觉问答系统》看引用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666744"/>
            <a:ext cx="548640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85031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12463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F2937"/>
                </a:solidFill>
                <a:latin typeface="微软雅黑"/>
                <a:ea typeface="微软雅黑"/>
              </a:rPr>
              <a:t>工具调用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758183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12×34 自动调计算器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325112"/>
            <a:ext cx="548640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433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70831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F2937"/>
                </a:solidFill>
                <a:latin typeface="微软雅黑"/>
                <a:ea typeface="微软雅黑"/>
              </a:rPr>
              <a:t>技能市场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416551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启用 / 禁用工具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4983479"/>
            <a:ext cx="548640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01767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029199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F2937"/>
                </a:solidFill>
                <a:latin typeface="微软雅黑"/>
                <a:ea typeface="微软雅黑"/>
              </a:rPr>
              <a:t>求职辅助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074919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简历检查、面试问答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5641847"/>
            <a:ext cx="548640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66013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687567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F2937"/>
                </a:solidFill>
                <a:latin typeface="微软雅黑"/>
                <a:ea typeface="微软雅黑"/>
              </a:rPr>
              <a:t>体验亮点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733287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暗色、引用下载、管理后台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F2937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234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6B7280"/>
                </a:solidFill>
                <a:latin typeface="微软雅黑"/>
                <a:ea typeface="微软雅黑"/>
              </a:rPr>
              <a:t>14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AF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0B981"/>
                </a:solidFill>
                <a:latin typeface="微软雅黑"/>
                <a:ea typeface="微软雅黑"/>
              </a:rPr>
              <a:t>已实现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0292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对话 + RAG + 工具调用一体化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学习 / 简历 / 面试分类差异化问答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工具调用过程可视化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Redis 限流防爆破、敏感词过滤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长期记忆：会话摘要 + 用户画像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Docker + 一键脚本部署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0195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</a:rPr>
              <a:t>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95728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多模态：图片问答、图文理解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求职场景深化：AI 模拟面试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向量库优化：混合检索、重排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</a:rPr>
              <a:t>•  云端部署，多端在线使用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F46E5"/>
                </a:solidFill>
                <a:latin typeface="微软雅黑"/>
                <a:ea typeface="微软雅黑"/>
              </a:rPr>
              <a:t>感谢聆听，欢迎提问！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大学生学习与求职智能助手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